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62" r:id="rId10"/>
    <p:sldId id="264" r:id="rId11"/>
    <p:sldId id="277" r:id="rId12"/>
    <p:sldId id="295" r:id="rId13"/>
    <p:sldId id="286" r:id="rId14"/>
    <p:sldId id="287" r:id="rId15"/>
    <p:sldId id="296" r:id="rId16"/>
    <p:sldId id="288" r:id="rId17"/>
    <p:sldId id="289" r:id="rId18"/>
    <p:sldId id="276" r:id="rId19"/>
    <p:sldId id="294"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109" d="100"/>
          <a:sy n="109" d="100"/>
        </p:scale>
        <p:origin x="-594" y="-8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rajuecefdp@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rajuecefdp-maker/Intelligent-Crop-Marketing-Assistant.gi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xmlns="" val="9575646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xmlns=""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ctr" rtl="0">
                        <a:spcBef>
                          <a:spcPts val="0"/>
                        </a:spcBef>
                        <a:spcAft>
                          <a:spcPts val="0"/>
                        </a:spcAft>
                        <a:buNone/>
                      </a:pPr>
                      <a:r>
                        <a:rPr lang="en-US" sz="2800" dirty="0" smtClean="0"/>
                        <a:t>BURRA RAJU</a:t>
                      </a:r>
                      <a:endParaRPr sz="2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400" dirty="0" smtClean="0">
                          <a:hlinkClick r:id="rId3"/>
                        </a:rPr>
                        <a:t>rajuecefdp@gmail.com</a:t>
                      </a:r>
                      <a:endParaRPr sz="24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800" dirty="0" smtClean="0"/>
                        <a:t>9014434222</a:t>
                      </a:r>
                      <a:endParaRPr sz="2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smtClean="0"/>
              <a:t>Artificial Intelligence (AI) – </a:t>
            </a:r>
            <a:r>
              <a:rPr lang="en-US" sz="2400" b="1" dirty="0" err="1" smtClean="0"/>
              <a:t>Agentic</a:t>
            </a:r>
            <a:r>
              <a:rPr lang="en-US" sz="2400" b="1" dirty="0" smtClean="0"/>
              <a:t> AI for Smart Agriculture (AgriTech)</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10184649" cy="461665"/>
          </a:xfrm>
          <a:prstGeom prst="rect">
            <a:avLst/>
          </a:prstGeom>
          <a:noFill/>
        </p:spPr>
        <p:txBody>
          <a:bodyPr wrap="square" rtlCol="0">
            <a:spAutoFit/>
          </a:bodyPr>
          <a:lstStyle/>
          <a:p>
            <a:r>
              <a:rPr lang="en-US" sz="2400" b="1" dirty="0"/>
              <a:t>Project Tile – </a:t>
            </a:r>
            <a:r>
              <a:rPr lang="en-US" sz="1800" b="1" dirty="0" smtClean="0"/>
              <a:t>Intelligent Crop Marketing Assistant (Market Agent + Decision Agent)</a:t>
            </a:r>
            <a:endParaRPr lang="en-IN" sz="2400" b="1" dirty="0">
              <a:highlight>
                <a:srgbClr val="FFFF00"/>
              </a:highlight>
            </a:endParaRPr>
          </a:p>
        </p:txBody>
      </p:sp>
      <p:sp>
        <p:nvSpPr>
          <p:cNvPr id="3" name="TextBox 2">
            <a:extLst>
              <a:ext uri="{FF2B5EF4-FFF2-40B4-BE49-F238E27FC236}">
                <a16:creationId xmlns:a16="http://schemas.microsoft.com/office/drawing/2014/main" xmlns=""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9" name="Picture 8"/>
          <p:cNvPicPr/>
          <p:nvPr/>
        </p:nvPicPr>
        <p:blipFill>
          <a:blip r:embed="rId4" cstate="print"/>
          <a:stretch/>
        </p:blipFill>
        <p:spPr>
          <a:xfrm>
            <a:off x="3780000" y="3600000"/>
            <a:ext cx="1620000" cy="1080000"/>
          </a:xfrm>
          <a:prstGeom prst="rect">
            <a:avLst/>
          </a:prstGeom>
          <a:ln w="0">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3539430"/>
          </a:xfrm>
          <a:prstGeom prst="rect">
            <a:avLst/>
          </a:prstGeom>
          <a:noFill/>
        </p:spPr>
        <p:txBody>
          <a:bodyPr wrap="square" rtlCol="0">
            <a:spAutoFit/>
          </a:bodyPr>
          <a:lstStyle/>
          <a:p>
            <a:pPr algn="just"/>
            <a:r>
              <a:rPr lang="en-US" b="1" dirty="0" smtClean="0"/>
              <a:t>The Challenge</a:t>
            </a:r>
          </a:p>
          <a:p>
            <a:pPr algn="just"/>
            <a:endParaRPr lang="en-US" b="1" dirty="0" smtClean="0"/>
          </a:p>
          <a:p>
            <a:pPr algn="just"/>
            <a:r>
              <a:rPr lang="en-US" dirty="0" smtClean="0"/>
              <a:t>Farmers often sell their crops without access to real-time market information, resulting in lower profits and poor selling decisions. Fluctuating market prices, transportation costs, demand trends, and government procurement policies make it difficult to identify the best market and selling time. An AI-powered solution is needed to provide personalized, data-driven recommendations that help farmers maximize their income.</a:t>
            </a:r>
          </a:p>
          <a:p>
            <a:pPr algn="just"/>
            <a:endParaRPr lang="en-US" dirty="0" smtClean="0"/>
          </a:p>
          <a:p>
            <a:pPr algn="just"/>
            <a:r>
              <a:rPr lang="en-US" b="1" dirty="0" smtClean="0"/>
              <a:t>The Objective</a:t>
            </a:r>
          </a:p>
          <a:p>
            <a:pPr algn="just"/>
            <a:endParaRPr lang="en-US" b="1" dirty="0" smtClean="0"/>
          </a:p>
          <a:p>
            <a:pPr algn="just"/>
            <a:r>
              <a:rPr lang="en-US" dirty="0" smtClean="0"/>
              <a:t>Develop </a:t>
            </a:r>
            <a:r>
              <a:rPr lang="en-US" dirty="0" err="1" smtClean="0"/>
              <a:t>AgriMarket</a:t>
            </a:r>
            <a:r>
              <a:rPr lang="en-US" dirty="0" smtClean="0"/>
              <a:t> AI, an </a:t>
            </a:r>
            <a:r>
              <a:rPr lang="en-US" dirty="0" err="1" smtClean="0"/>
              <a:t>Agentic</a:t>
            </a:r>
            <a:r>
              <a:rPr lang="en-US" dirty="0" smtClean="0"/>
              <a:t> AI Crop Marketing Assistant using IBM watsonx.ai Granite Models, IBM Bob (</a:t>
            </a:r>
            <a:r>
              <a:rPr lang="en-US" dirty="0" err="1" smtClean="0"/>
              <a:t>watsonx</a:t>
            </a:r>
            <a:r>
              <a:rPr lang="en-US" dirty="0" smtClean="0"/>
              <a:t> Orchestrate), and IBM Cloud. The solution uses two AI agents: a Market Intelligence Agent to collect real-time crop prices, demand trends, and government schemes, and a Decision Agent to analyze transportation costs, price forecasts, and market conditions to recommend the optimal market, selling time, and pricing strategy. The application delivers transparent insights through an interactive dashboard, enabling farmers to make informed decisions and improve profitability.</a:t>
            </a:r>
          </a:p>
          <a:p>
            <a:pPr fontAlgn="base"/>
            <a:endParaRPr lang="en-US"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xmlns="" val="29525842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5693866"/>
          </a:xfrm>
          <a:prstGeom prst="rect">
            <a:avLst/>
          </a:prstGeom>
          <a:noFill/>
        </p:spPr>
        <p:txBody>
          <a:bodyPr wrap="square" rtlCol="0">
            <a:spAutoFit/>
          </a:bodyPr>
          <a:lstStyle/>
          <a:p>
            <a:pPr fontAlgn="base"/>
            <a:endParaRPr lang="en-US" b="1" dirty="0"/>
          </a:p>
          <a:p>
            <a:r>
              <a:rPr lang="en-US" b="1" dirty="0" smtClean="0"/>
              <a:t>Proposed Solution: AI-Powered Intelligent Crop Marketing Assistant</a:t>
            </a:r>
          </a:p>
          <a:p>
            <a:r>
              <a:rPr lang="en-US" dirty="0" smtClean="0"/>
              <a:t>The proposed solution is a </a:t>
            </a:r>
            <a:r>
              <a:rPr lang="en-US" b="1" dirty="0" smtClean="0"/>
              <a:t>multi-agent AI-powered Intelligent Crop Marketing Assistant</a:t>
            </a:r>
            <a:r>
              <a:rPr lang="en-US" dirty="0" smtClean="0"/>
              <a:t> built using </a:t>
            </a:r>
            <a:r>
              <a:rPr lang="en-US" b="1" dirty="0" smtClean="0"/>
              <a:t>IBM Bob, IBM watsonx.ai, and Granite Models</a:t>
            </a:r>
            <a:r>
              <a:rPr lang="en-US" dirty="0" smtClean="0"/>
              <a:t> to provide </a:t>
            </a:r>
            <a:r>
              <a:rPr lang="en-US" b="1" dirty="0" smtClean="0"/>
              <a:t>personalized, real-time market intelligence and crop-selling recommendations</a:t>
            </a:r>
            <a:r>
              <a:rPr lang="en-US" dirty="0" smtClean="0"/>
              <a:t>. The system addresses the challenges of market price fluctuations, lack of reliable agricultural information, and poor marketing decisions through an intelligent, modular architecture.</a:t>
            </a:r>
          </a:p>
          <a:p>
            <a:r>
              <a:rPr lang="en-US" dirty="0" smtClean="0"/>
              <a:t>At its core, the solution uses a </a:t>
            </a:r>
            <a:r>
              <a:rPr lang="en-US" b="1" dirty="0" smtClean="0"/>
              <a:t>Retrieval-Augmented Generation (RAG)</a:t>
            </a:r>
            <a:r>
              <a:rPr lang="en-US" dirty="0" smtClean="0"/>
              <a:t> pipeline to fetch accurate agricultural data from trusted sources such as </a:t>
            </a:r>
            <a:r>
              <a:rPr lang="en-US" b="1" dirty="0" smtClean="0"/>
              <a:t>AGMARKNET, </a:t>
            </a:r>
            <a:r>
              <a:rPr lang="en-US" b="1" dirty="0" err="1" smtClean="0"/>
              <a:t>eNAM</a:t>
            </a:r>
            <a:r>
              <a:rPr lang="en-US" b="1" dirty="0" smtClean="0"/>
              <a:t>, Government Agricultural Portals, IMD Weather Services, and Ministry of Agriculture datasets</a:t>
            </a:r>
            <a:r>
              <a:rPr lang="en-US" dirty="0" smtClean="0"/>
              <a:t>. This information is embedded and stored in a </a:t>
            </a:r>
            <a:r>
              <a:rPr lang="en-US" b="1" dirty="0" smtClean="0"/>
              <a:t>vector database</a:t>
            </a:r>
            <a:r>
              <a:rPr lang="en-US" dirty="0" smtClean="0"/>
              <a:t>, enabling the system to retrieve and summarize crop prices, market trends, weather forecasts, government schemes, and Minimum Support Price (MSP) information using </a:t>
            </a:r>
            <a:r>
              <a:rPr lang="en-US" b="1" dirty="0" smtClean="0"/>
              <a:t>Granite Models</a:t>
            </a:r>
            <a:r>
              <a:rPr lang="en-US" dirty="0" smtClean="0"/>
              <a:t>.</a:t>
            </a:r>
          </a:p>
          <a:p>
            <a:r>
              <a:rPr lang="en-US" dirty="0" smtClean="0"/>
              <a:t>The system consists of two key agents:</a:t>
            </a:r>
          </a:p>
          <a:p>
            <a:r>
              <a:rPr lang="en-US" b="1" dirty="0" smtClean="0"/>
              <a:t>Market Agent</a:t>
            </a:r>
            <a:r>
              <a:rPr lang="en-US" dirty="0" smtClean="0"/>
              <a:t> retrieves and analyzes real-time crop prices, market demand, weather conditions, MSP details, government schemes, and market intelligence using the RAG framework. It continuously monitors agricultural markets and provides accurate, up-to-date information to farmers. </a:t>
            </a:r>
          </a:p>
          <a:p>
            <a:r>
              <a:rPr lang="en-US" b="1" dirty="0" smtClean="0"/>
              <a:t>Decision Agent</a:t>
            </a:r>
            <a:r>
              <a:rPr lang="en-US" dirty="0" smtClean="0"/>
              <a:t> generates personalized crop marketing recommendations based on farmer location, crop type, quantity, transportation cost, storage availability, historical price trends, and current market conditions. It recommends the optimal market, best selling time, and pricing strategy to maximize farmers' profits while minimizing risks. </a:t>
            </a:r>
          </a:p>
          <a:p>
            <a:r>
              <a:rPr lang="en-US" dirty="0" smtClean="0"/>
              <a:t>The solution includes a </a:t>
            </a:r>
            <a:r>
              <a:rPr lang="en-US" b="1" dirty="0" smtClean="0"/>
              <a:t>user-friendly dashboard (built with </a:t>
            </a:r>
            <a:r>
              <a:rPr lang="en-US" b="1" dirty="0" err="1" smtClean="0"/>
              <a:t>Streamlit</a:t>
            </a:r>
            <a:r>
              <a:rPr lang="en-US" b="1" dirty="0" smtClean="0"/>
              <a:t> or React)</a:t>
            </a:r>
            <a:r>
              <a:rPr lang="en-US" dirty="0" smtClean="0"/>
              <a:t> that visualizes </a:t>
            </a:r>
            <a:r>
              <a:rPr lang="en-US" b="1" dirty="0" smtClean="0"/>
              <a:t>real-time crop prices, historical price trends, demand forecasts, weather conditions, recommended markets, expected profits, transportation costs, and personalized marketing insights</a:t>
            </a:r>
            <a:r>
              <a:rPr lang="en-US" dirty="0" smtClean="0"/>
              <a:t> through interactive charts and reports.</a:t>
            </a:r>
          </a:p>
          <a:p>
            <a:r>
              <a:rPr lang="en-US" b="1" dirty="0" smtClean="0"/>
              <a:t>IBM Bob</a:t>
            </a:r>
            <a:r>
              <a:rPr lang="en-US" dirty="0" smtClean="0"/>
              <a:t> is used to orchestrate the workflows between the Market Agent and Decision Agent, ensuring seamless coordination and intelligent task execution. </a:t>
            </a:r>
            <a:r>
              <a:rPr lang="en-US" b="1" dirty="0" smtClean="0"/>
              <a:t>IBM watsonx.ai</a:t>
            </a:r>
            <a:r>
              <a:rPr lang="en-US" dirty="0" smtClean="0"/>
              <a:t> provides scalable AI model deployment, embeddings, vector search, and AI governance, while </a:t>
            </a:r>
            <a:r>
              <a:rPr lang="en-US" b="1" dirty="0" smtClean="0"/>
              <a:t>Granite Models</a:t>
            </a:r>
            <a:r>
              <a:rPr lang="en-US" dirty="0" smtClean="0"/>
              <a:t> power reasoning, summarization, market analysis, and personalized recommendation generation.</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xmlns="" val="2290294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endParaRPr lang="en-US" sz="1800" dirty="0"/>
          </a:p>
          <a:p>
            <a:pPr marL="285750" indent="-285750">
              <a:buFont typeface="Arial" panose="020B0604020202020204" pitchFamily="34" charset="0"/>
              <a:buChar char="•"/>
            </a:pPr>
            <a:r>
              <a:rPr lang="en-US" sz="1800" b="1" dirty="0"/>
              <a:t>IBM </a:t>
            </a:r>
            <a:r>
              <a:rPr lang="en-US" sz="1800" b="1" dirty="0" err="1" smtClean="0"/>
              <a:t>Watsonx.studio</a:t>
            </a:r>
            <a:r>
              <a:rPr lang="en-US" sz="1800" b="1" dirty="0" smtClean="0"/>
              <a:t>, </a:t>
            </a:r>
            <a:r>
              <a:rPr lang="en-US" sz="1800" b="1" dirty="0" err="1" smtClean="0"/>
              <a:t>Watsonx</a:t>
            </a:r>
            <a:r>
              <a:rPr lang="en-US" sz="1800" b="1" dirty="0" smtClean="0"/>
              <a:t> Run time, cloud object storage – </a:t>
            </a:r>
            <a:r>
              <a:rPr lang="en-US" sz="1800" dirty="0" smtClean="0"/>
              <a:t>for creating new project on IBM cloud.</a:t>
            </a:r>
          </a:p>
          <a:p>
            <a:pPr marL="285750" indent="-285750">
              <a:buFont typeface="Arial" panose="020B0604020202020204" pitchFamily="34" charset="0"/>
              <a:buChar char="•"/>
            </a:pPr>
            <a:r>
              <a:rPr lang="en-US" sz="1800" b="1" dirty="0" smtClean="0"/>
              <a:t>Prompt Engineering</a:t>
            </a:r>
            <a:r>
              <a:rPr lang="en-US" sz="1800" dirty="0" smtClean="0"/>
              <a:t> – for defining the goal of the Agent.</a:t>
            </a:r>
            <a:endParaRPr lang="en-US" sz="1800" dirty="0"/>
          </a:p>
          <a:p>
            <a:pPr marL="285750" indent="-285750">
              <a:buFont typeface="Arial" panose="020B0604020202020204" pitchFamily="34" charset="0"/>
              <a:buChar char="•"/>
            </a:pPr>
            <a:endParaRPr lang="en-US" sz="1800" dirty="0"/>
          </a:p>
          <a:p>
            <a:pPr marL="285750" indent="-285750"/>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xmlns="" val="37644058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4185761"/>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smtClean="0"/>
              <a:t>_</a:t>
            </a:r>
            <a:r>
              <a:rPr lang="en-US" sz="1800" dirty="0" err="1" smtClean="0"/>
              <a:t>p</a:t>
            </a:r>
            <a:r>
              <a:rPr lang="en-US" sz="1800" dirty="0" err="1" smtClean="0"/>
              <a:t>ycache</a:t>
            </a:r>
            <a:r>
              <a:rPr lang="en-US" sz="1800" dirty="0" smtClean="0"/>
              <a:t>_</a:t>
            </a:r>
            <a:endParaRPr lang="en-US" sz="1800" dirty="0" smtClean="0"/>
          </a:p>
          <a:p>
            <a:pPr marL="342900" indent="-342900">
              <a:buFont typeface="+mj-lt"/>
              <a:buAutoNum type="arabicPeriod"/>
            </a:pPr>
            <a:r>
              <a:rPr lang="en-US" sz="1800" dirty="0" smtClean="0"/>
              <a:t>Static </a:t>
            </a:r>
          </a:p>
          <a:p>
            <a:pPr marL="342900" indent="-342900">
              <a:buFont typeface="+mj-lt"/>
              <a:buAutoNum type="arabicPeriod"/>
            </a:pPr>
            <a:r>
              <a:rPr lang="en-US" sz="1800" dirty="0" smtClean="0"/>
              <a:t>t</a:t>
            </a:r>
            <a:r>
              <a:rPr lang="en-US" sz="1800" dirty="0" smtClean="0"/>
              <a:t>emplates</a:t>
            </a:r>
            <a:endParaRPr lang="en-US" sz="1800" dirty="0" smtClean="0"/>
          </a:p>
          <a:p>
            <a:pPr marL="342900" indent="-342900">
              <a:buFont typeface="+mj-lt"/>
              <a:buAutoNum type="arabicPeriod"/>
            </a:pPr>
            <a:r>
              <a:rPr lang="en-US" sz="1800" dirty="0" smtClean="0"/>
              <a:t>.</a:t>
            </a:r>
            <a:r>
              <a:rPr lang="en-US" sz="1800" dirty="0" err="1" smtClean="0"/>
              <a:t>env</a:t>
            </a:r>
            <a:endParaRPr lang="en-US" sz="1800" dirty="0" smtClean="0"/>
          </a:p>
          <a:p>
            <a:pPr marL="342900" indent="-342900">
              <a:buFont typeface="+mj-lt"/>
              <a:buAutoNum type="arabicPeriod"/>
            </a:pPr>
            <a:r>
              <a:rPr lang="en-US" sz="1800" dirty="0" smtClean="0"/>
              <a:t>a</a:t>
            </a:r>
            <a:r>
              <a:rPr lang="en-US" sz="1800" dirty="0" smtClean="0"/>
              <a:t>pp.py</a:t>
            </a:r>
            <a:endParaRPr lang="en-US" sz="1800" dirty="0" smtClean="0"/>
          </a:p>
          <a:p>
            <a:pPr marL="342900" indent="-342900">
              <a:buFont typeface="+mj-lt"/>
              <a:buAutoNum type="arabicPeriod"/>
            </a:pPr>
            <a:r>
              <a:rPr lang="en-US" sz="1800" dirty="0" smtClean="0"/>
              <a:t>e</a:t>
            </a:r>
            <a:r>
              <a:rPr lang="en-US" sz="1800" dirty="0" smtClean="0"/>
              <a:t>nv_config.txt</a:t>
            </a:r>
            <a:endParaRPr lang="en-US" sz="1800" dirty="0" smtClean="0"/>
          </a:p>
          <a:p>
            <a:pPr marL="342900" indent="-342900">
              <a:buFont typeface="+mj-lt"/>
              <a:buAutoNum type="arabicPeriod"/>
            </a:pPr>
            <a:r>
              <a:rPr lang="en-US" sz="1800" dirty="0" smtClean="0"/>
              <a:t>r</a:t>
            </a:r>
            <a:r>
              <a:rPr lang="en-US" sz="1800" dirty="0" smtClean="0"/>
              <a:t>equirements.txt</a:t>
            </a:r>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9" name="Rectangle 8">
            <a:extLst>
              <a:ext uri="{FF2B5EF4-FFF2-40B4-BE49-F238E27FC236}">
                <a16:creationId xmlns:a16="http://schemas.microsoft.com/office/drawing/2014/main" xmlns=""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pic>
        <p:nvPicPr>
          <p:cNvPr id="13" name="Picture 12"/>
          <p:cNvPicPr/>
          <p:nvPr/>
        </p:nvPicPr>
        <p:blipFill>
          <a:blip r:embed="rId3"/>
          <a:srcRect/>
          <a:stretch>
            <a:fillRect/>
          </a:stretch>
        </p:blipFill>
        <p:spPr bwMode="auto">
          <a:xfrm>
            <a:off x="3985985" y="1219201"/>
            <a:ext cx="7700918" cy="5050970"/>
          </a:xfrm>
          <a:prstGeom prst="rect">
            <a:avLst/>
          </a:prstGeom>
          <a:noFill/>
          <a:ln w="9525">
            <a:noFill/>
            <a:miter lim="800000"/>
            <a:headEnd/>
            <a:tailEnd/>
          </a:ln>
        </p:spPr>
      </p:pic>
    </p:spTree>
    <p:extLst>
      <p:ext uri="{BB962C8B-B14F-4D97-AF65-F5344CB8AC3E}">
        <p14:creationId xmlns:p14="http://schemas.microsoft.com/office/powerpoint/2010/main" xmlns="" val="3285263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p:cNvPicPr/>
          <p:nvPr/>
        </p:nvPicPr>
        <p:blipFill>
          <a:blip r:embed="rId3"/>
          <a:srcRect/>
          <a:stretch>
            <a:fillRect/>
          </a:stretch>
        </p:blipFill>
        <p:spPr bwMode="auto">
          <a:xfrm>
            <a:off x="2063931" y="1079863"/>
            <a:ext cx="8351520" cy="5320937"/>
          </a:xfrm>
          <a:prstGeom prst="rect">
            <a:avLst/>
          </a:prstGeom>
          <a:noFill/>
          <a:ln w="9525">
            <a:noFill/>
            <a:miter lim="800000"/>
            <a:headEnd/>
            <a:tailEnd/>
          </a:ln>
        </p:spPr>
      </p:pic>
    </p:spTree>
    <p:extLst>
      <p:ext uri="{BB962C8B-B14F-4D97-AF65-F5344CB8AC3E}">
        <p14:creationId xmlns:p14="http://schemas.microsoft.com/office/powerpoint/2010/main" xmlns="" val="27725019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rcRect/>
          <a:stretch>
            <a:fillRect/>
          </a:stretch>
        </p:blipFill>
        <p:spPr bwMode="auto">
          <a:xfrm>
            <a:off x="1767841" y="879566"/>
            <a:ext cx="9030788" cy="5172891"/>
          </a:xfrm>
          <a:prstGeom prst="rect">
            <a:avLst/>
          </a:prstGeom>
          <a:noFill/>
          <a:ln w="9525">
            <a:noFill/>
            <a:miter lim="800000"/>
            <a:headEnd/>
            <a:tailEnd/>
          </a:ln>
        </p:spPr>
      </p:pic>
      <p:sp>
        <p:nvSpPr>
          <p:cNvPr id="4" name="TextBox 3"/>
          <p:cNvSpPr txBox="1"/>
          <p:nvPr/>
        </p:nvSpPr>
        <p:spPr>
          <a:xfrm>
            <a:off x="1950720" y="505097"/>
            <a:ext cx="6609806" cy="307777"/>
          </a:xfrm>
          <a:prstGeom prst="rect">
            <a:avLst/>
          </a:prstGeom>
          <a:noFill/>
        </p:spPr>
        <p:txBody>
          <a:bodyPr wrap="square" rtlCol="0">
            <a:spAutoFit/>
          </a:bodyPr>
          <a:lstStyle/>
          <a:p>
            <a:r>
              <a:rPr lang="en-US" b="1" dirty="0" smtClean="0"/>
              <a:t>User Interface For </a:t>
            </a:r>
            <a:r>
              <a:rPr lang="en-US" b="1" dirty="0" smtClean="0"/>
              <a:t>Intelligent Crop Marketing Assistant </a:t>
            </a:r>
            <a:endParaRPr lang="en-US" dirty="0"/>
          </a:p>
        </p:txBody>
      </p:sp>
    </p:spTree>
    <p:extLst>
      <p:ext uri="{BB962C8B-B14F-4D97-AF65-F5344CB8AC3E}">
        <p14:creationId xmlns:p14="http://schemas.microsoft.com/office/powerpoint/2010/main" xmlns="" val="232371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8893793" cy="448508"/>
          </a:xfrm>
          <a:prstGeom prst="rect">
            <a:avLst/>
          </a:prstGeom>
          <a:noFill/>
          <a:ln>
            <a:noFill/>
          </a:ln>
        </p:spPr>
        <p:txBody>
          <a:bodyPr spcFirstLastPara="1" wrap="square" lIns="0" tIns="0" rIns="0" bIns="0" anchor="t" anchorCtr="0">
            <a:noAutofit/>
          </a:bodyPr>
          <a:lstStyle/>
          <a:p>
            <a:r>
              <a:rPr lang="en-US" sz="2400" b="1" dirty="0" smtClean="0"/>
              <a:t>User Prompt For </a:t>
            </a:r>
            <a:r>
              <a:rPr lang="en-US" sz="2400" b="1" dirty="0" smtClean="0"/>
              <a:t>Intelligent Crop Marketing Assistant </a:t>
            </a:r>
            <a:endParaRPr lang="en-US" sz="2400" dirty="0"/>
          </a:p>
        </p:txBody>
      </p:sp>
      <p:pic>
        <p:nvPicPr>
          <p:cNvPr id="4" name="Picture 3"/>
          <p:cNvPicPr/>
          <p:nvPr/>
        </p:nvPicPr>
        <p:blipFill>
          <a:blip r:embed="rId3"/>
          <a:srcRect/>
          <a:stretch>
            <a:fillRect/>
          </a:stretch>
        </p:blipFill>
        <p:spPr bwMode="auto">
          <a:xfrm>
            <a:off x="1776549" y="1018904"/>
            <a:ext cx="9117874" cy="529481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xmlns="" id="{B84A7B44-8B20-5A39-ED43-DA98D0FC7976}"/>
              </a:ext>
            </a:extLst>
          </p:cNvPr>
          <p:cNvSpPr txBox="1"/>
          <p:nvPr/>
        </p:nvSpPr>
        <p:spPr>
          <a:xfrm>
            <a:off x="475487" y="283464"/>
            <a:ext cx="11359461" cy="584775"/>
          </a:xfrm>
          <a:prstGeom prst="rect">
            <a:avLst/>
          </a:prstGeom>
          <a:noFill/>
        </p:spPr>
        <p:txBody>
          <a:bodyPr wrap="square" rtlCol="0">
            <a:spAutoFit/>
          </a:bodyPr>
          <a:lstStyle/>
          <a:p>
            <a:r>
              <a:rPr lang="en-US" sz="3200" b="1" dirty="0" smtClean="0"/>
              <a:t>Intelligent </a:t>
            </a:r>
            <a:r>
              <a:rPr lang="en-US" sz="3200" b="1" dirty="0" smtClean="0"/>
              <a:t>Crop Marketing </a:t>
            </a:r>
            <a:r>
              <a:rPr lang="en-US" sz="3200" b="1" dirty="0" smtClean="0"/>
              <a:t>Assistant Response </a:t>
            </a:r>
            <a:endParaRPr lang="en-US" sz="3200" dirty="0"/>
          </a:p>
        </p:txBody>
      </p:sp>
      <p:pic>
        <p:nvPicPr>
          <p:cNvPr id="5" name="Picture 4"/>
          <p:cNvPicPr/>
          <p:nvPr/>
        </p:nvPicPr>
        <p:blipFill>
          <a:blip r:embed="rId3"/>
          <a:srcRect/>
          <a:stretch>
            <a:fillRect/>
          </a:stretch>
        </p:blipFill>
        <p:spPr bwMode="auto">
          <a:xfrm>
            <a:off x="1358537" y="1490629"/>
            <a:ext cx="9361714" cy="43528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1" name="TextBox 10">
            <a:extLst>
              <a:ext uri="{FF2B5EF4-FFF2-40B4-BE49-F238E27FC236}">
                <a16:creationId xmlns:a16="http://schemas.microsoft.com/office/drawing/2014/main" xmlns="" id="{B84A7B44-8B20-5A39-ED43-DA98D0FC7976}"/>
              </a:ext>
            </a:extLst>
          </p:cNvPr>
          <p:cNvSpPr txBox="1"/>
          <p:nvPr/>
        </p:nvSpPr>
        <p:spPr>
          <a:xfrm>
            <a:off x="475487" y="283464"/>
            <a:ext cx="11359461" cy="461665"/>
          </a:xfrm>
          <a:prstGeom prst="rect">
            <a:avLst/>
          </a:prstGeom>
          <a:noFill/>
        </p:spPr>
        <p:txBody>
          <a:bodyPr wrap="square" rtlCol="0">
            <a:spAutoFit/>
          </a:bodyPr>
          <a:lstStyle/>
          <a:p>
            <a:r>
              <a:rPr lang="en-US" sz="2400" b="1" dirty="0" smtClean="0"/>
              <a:t>Token Usage/Resource Consumption Intelligent Crop Marketing Assistant </a:t>
            </a:r>
            <a:endParaRPr lang="en-US" sz="2400" dirty="0"/>
          </a:p>
        </p:txBody>
      </p:sp>
      <p:pic>
        <p:nvPicPr>
          <p:cNvPr id="1026" name="Picture 2" descr="C:\Users\JITS\Downloads\WhatsApp Image 2026-07-03 at 17.36.52.jpeg"/>
          <p:cNvPicPr>
            <a:picLocks noChangeAspect="1" noChangeArrowheads="1"/>
          </p:cNvPicPr>
          <p:nvPr/>
        </p:nvPicPr>
        <p:blipFill>
          <a:blip r:embed="rId3"/>
          <a:srcRect/>
          <a:stretch>
            <a:fillRect/>
          </a:stretch>
        </p:blipFill>
        <p:spPr bwMode="auto">
          <a:xfrm>
            <a:off x="705393" y="823913"/>
            <a:ext cx="11094721" cy="5210175"/>
          </a:xfrm>
          <a:prstGeom prst="rect">
            <a:avLst/>
          </a:prstGeom>
          <a:noFill/>
        </p:spPr>
      </p:pic>
    </p:spTree>
    <p:extLst>
      <p:ext uri="{BB962C8B-B14F-4D97-AF65-F5344CB8AC3E}">
        <p14:creationId xmlns:p14="http://schemas.microsoft.com/office/powerpoint/2010/main" xmlns="" val="21154848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78DA0257-5105-834D-150D-50732C7248D1}"/>
              </a:ext>
            </a:extLst>
          </p:cNvPr>
          <p:cNvSpPr/>
          <p:nvPr/>
        </p:nvSpPr>
        <p:spPr>
          <a:xfrm>
            <a:off x="152470" y="112960"/>
            <a:ext cx="12232036" cy="704017"/>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blueprint for IBM </a:t>
            </a:r>
            <a:r>
              <a:rPr lang="en-US" sz="2800" b="1" dirty="0" smtClean="0">
                <a:solidFill>
                  <a:schemeClr val="dk1"/>
                </a:solidFill>
                <a:latin typeface="Calibri"/>
                <a:ea typeface="Calibri"/>
                <a:cs typeface="Calibri"/>
                <a:sym typeface="Calibri"/>
              </a:rPr>
              <a:t>bob for </a:t>
            </a:r>
            <a:r>
              <a:rPr lang="en-US" sz="2800" b="1" dirty="0"/>
              <a:t>Intelligent Crop Marketing Assistant</a:t>
            </a:r>
            <a:endParaRPr lang="en-US" sz="2400" dirty="0"/>
          </a:p>
        </p:txBody>
      </p:sp>
      <p:sp>
        <p:nvSpPr>
          <p:cNvPr id="280" name="Google Shape;280;p18">
            <a:extLst>
              <a:ext uri="{FF2B5EF4-FFF2-40B4-BE49-F238E27FC236}">
                <a16:creationId xmlns:a16="http://schemas.microsoft.com/office/drawing/2014/main" xmlns=""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322224" y="1094518"/>
            <a:ext cx="9547552" cy="5250872"/>
          </a:xfrm>
          <a:prstGeom prst="rect">
            <a:avLst/>
          </a:prstGeom>
        </p:spPr>
      </p:pic>
    </p:spTree>
    <p:extLst>
      <p:ext uri="{BB962C8B-B14F-4D97-AF65-F5344CB8AC3E}">
        <p14:creationId xmlns:p14="http://schemas.microsoft.com/office/powerpoint/2010/main" xmlns=""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err="1"/>
              <a:t>Agentic</a:t>
            </a:r>
            <a:r>
              <a:rPr lang="en-IN" sz="1800" b="1" dirty="0"/>
              <a:t> AI, RAG, and personalization</a:t>
            </a:r>
            <a:r>
              <a:rPr lang="en-IN" sz="1800" dirty="0"/>
              <a:t> into a single intelligent system.</a:t>
            </a:r>
          </a:p>
          <a:p>
            <a:endParaRPr lang="en-IN" sz="1800" dirty="0"/>
          </a:p>
          <a:p>
            <a:r>
              <a:rPr lang="en-IN" sz="1800" b="1" dirty="0"/>
              <a:t>Multi-Agent Intelligence</a:t>
            </a:r>
            <a:r>
              <a:rPr lang="en-IN" sz="1800" dirty="0"/>
              <a:t> – Instead of a single </a:t>
            </a:r>
            <a:r>
              <a:rPr lang="en-IN" sz="1800" dirty="0" err="1"/>
              <a:t>chatbot</a:t>
            </a:r>
            <a:r>
              <a:rPr lang="en-IN" sz="1800" dirty="0"/>
              <a: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xmlns="" val="9179641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a:t>
            </a:r>
            <a:r>
              <a:rPr lang="en-US" sz="2400" b="1" dirty="0" smtClean="0">
                <a:sym typeface="Times New Roman"/>
              </a:rPr>
              <a:t>Link</a:t>
            </a:r>
          </a:p>
          <a:p>
            <a:pPr marL="0" marR="0" lvl="0" indent="0" algn="l" rtl="0">
              <a:lnSpc>
                <a:spcPct val="157142"/>
              </a:lnSpc>
              <a:spcBef>
                <a:spcPts val="0"/>
              </a:spcBef>
              <a:spcAft>
                <a:spcPts val="0"/>
              </a:spcAft>
              <a:buClr>
                <a:srgbClr val="051D3A"/>
              </a:buClr>
              <a:buSzPts val="3500"/>
              <a:buFont typeface="Times New Roman"/>
              <a:buNone/>
            </a:pPr>
            <a:endParaRPr lang="en-US" sz="2400" b="1" dirty="0" smtClean="0">
              <a:sym typeface="Times New Roman"/>
            </a:endParaRPr>
          </a:p>
          <a:p>
            <a:pPr lvl="0">
              <a:lnSpc>
                <a:spcPct val="157142"/>
              </a:lnSpc>
              <a:buClr>
                <a:srgbClr val="051D3A"/>
              </a:buClr>
              <a:buSzPts val="3500"/>
            </a:pPr>
            <a:r>
              <a:rPr lang="en-US" b="1" dirty="0" smtClean="0">
                <a:sym typeface="Times New Roman"/>
                <a:hlinkClick r:id="rId3"/>
              </a:rPr>
              <a:t>https://</a:t>
            </a:r>
            <a:r>
              <a:rPr lang="en-US" b="1" dirty="0" smtClean="0">
                <a:sym typeface="Times New Roman"/>
                <a:hlinkClick r:id="rId3"/>
              </a:rPr>
              <a:t>github.com/rajuecefdp-maker/Intelligent-Crop-Marketing-Assistant.git</a:t>
            </a:r>
            <a:endParaRPr lang="en-US" b="1" dirty="0" smtClean="0">
              <a:sym typeface="Times New Roman"/>
            </a:endParaRPr>
          </a:p>
          <a:p>
            <a:pPr lvl="0">
              <a:lnSpc>
                <a:spcPct val="157142"/>
              </a:lnSpc>
              <a:buClr>
                <a:srgbClr val="051D3A"/>
              </a:buClr>
              <a:buSzPts val="3500"/>
            </a:pPr>
            <a:endParaRPr sz="2400" b="1">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xmlns="" id="{1810CD56-B441-0C05-CADF-4C9A7439C3CC}"/>
              </a:ext>
            </a:extLst>
          </p:cNvPr>
          <p:cNvSpPr txBox="1"/>
          <p:nvPr/>
        </p:nvSpPr>
        <p:spPr>
          <a:xfrm>
            <a:off x="1158199" y="2454134"/>
            <a:ext cx="8055469" cy="954107"/>
          </a:xfrm>
          <a:prstGeom prst="rect">
            <a:avLst/>
          </a:prstGeom>
          <a:noFill/>
        </p:spPr>
        <p:txBody>
          <a:bodyPr wrap="square" rtlCol="0">
            <a:spAutoFit/>
          </a:bodyPr>
          <a:lstStyle/>
          <a:p>
            <a:r>
              <a:rPr lang="en-IN" dirty="0"/>
              <a:t>1. Generative AI in Action </a:t>
            </a:r>
            <a:r>
              <a:rPr lang="en-IN" dirty="0" err="1"/>
              <a:t>Credly</a:t>
            </a:r>
            <a:r>
              <a:rPr lang="en-IN" dirty="0"/>
              <a:t> Certificate</a:t>
            </a:r>
          </a:p>
          <a:p>
            <a:r>
              <a:rPr lang="en-IN" dirty="0"/>
              <a:t>2. IBM BOB Certificate</a:t>
            </a:r>
          </a:p>
          <a:p>
            <a:r>
              <a:rPr lang="en-IN" dirty="0"/>
              <a:t>3. PPT</a:t>
            </a:r>
          </a:p>
          <a:p>
            <a:r>
              <a:rPr lang="en-IN" dirty="0"/>
              <a:t>4. Problem Statement</a:t>
            </a:r>
          </a:p>
        </p:txBody>
      </p:sp>
    </p:spTree>
    <p:extLst>
      <p:ext uri="{BB962C8B-B14F-4D97-AF65-F5344CB8AC3E}">
        <p14:creationId xmlns:p14="http://schemas.microsoft.com/office/powerpoint/2010/main" xmlns="" val="26058519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p:cNvSpPr txBox="1"/>
          <p:nvPr/>
        </p:nvSpPr>
        <p:spPr>
          <a:xfrm>
            <a:off x="1379621" y="1363579"/>
            <a:ext cx="9657347" cy="5539978"/>
          </a:xfrm>
          <a:prstGeom prst="rect">
            <a:avLst/>
          </a:prstGeom>
          <a:noFill/>
        </p:spPr>
        <p:txBody>
          <a:bodyPr wrap="square" rtlCol="0">
            <a:spAutoFit/>
          </a:bodyPr>
          <a:lstStyle/>
          <a:p>
            <a:r>
              <a:rPr lang="en-US" sz="2000" b="1" dirty="0"/>
              <a:t>AI Price Forecasting</a:t>
            </a:r>
            <a:r>
              <a:rPr lang="en-US" sz="2000" dirty="0"/>
              <a:t> – Predict future crop prices using historical data, weather, and demand trends. </a:t>
            </a:r>
          </a:p>
          <a:p>
            <a:r>
              <a:rPr lang="en-US" sz="2000" b="1" dirty="0" err="1"/>
              <a:t>IoT</a:t>
            </a:r>
            <a:r>
              <a:rPr lang="en-US" sz="2000" b="1" dirty="0"/>
              <a:t> Integration</a:t>
            </a:r>
            <a:r>
              <a:rPr lang="en-US" sz="2000" dirty="0"/>
              <a:t> – Use smart sensors for real-time farm, soil, and weather monitoring. </a:t>
            </a:r>
          </a:p>
          <a:p>
            <a:r>
              <a:rPr lang="en-US" sz="2000" b="1" dirty="0"/>
              <a:t>Multilingual Voice Support</a:t>
            </a:r>
            <a:r>
              <a:rPr lang="en-US" sz="2000" dirty="0"/>
              <a:t> – Enable voice-based assistance in regional languages for better accessibility. </a:t>
            </a:r>
          </a:p>
          <a:p>
            <a:r>
              <a:rPr lang="en-US" sz="2000" b="1" dirty="0" err="1"/>
              <a:t>Blockchain</a:t>
            </a:r>
            <a:r>
              <a:rPr lang="en-US" sz="2000" b="1" dirty="0"/>
              <a:t> Traceability</a:t>
            </a:r>
            <a:r>
              <a:rPr lang="en-US" sz="2000" dirty="0"/>
              <a:t> – Ensure transparent and secure farm-to-market supply chain tracking. </a:t>
            </a:r>
          </a:p>
          <a:p>
            <a:r>
              <a:rPr lang="en-US" sz="2000" b="1" dirty="0"/>
              <a:t>Direct Buyer Marketplace</a:t>
            </a:r>
            <a:r>
              <a:rPr lang="en-US" sz="2000" dirty="0"/>
              <a:t> – Connect farmers directly with buyers, retailers, and exporters. </a:t>
            </a:r>
          </a:p>
          <a:p>
            <a:r>
              <a:rPr lang="en-US" sz="2000" b="1" dirty="0"/>
              <a:t>Government Integration</a:t>
            </a:r>
            <a:r>
              <a:rPr lang="en-US" sz="2000" dirty="0"/>
              <a:t> – Provide real-time access to MSP, subsidies, crop insurance, and agricultural schemes. </a:t>
            </a:r>
          </a:p>
          <a:p>
            <a:r>
              <a:rPr lang="en-US" sz="2000" b="1" dirty="0"/>
              <a:t>Scalable AI Platform</a:t>
            </a:r>
            <a:r>
              <a:rPr lang="en-US" sz="2000" dirty="0"/>
              <a:t> – Expand to support multiple crops, regions, and international markets using IBM Cloud. </a:t>
            </a:r>
          </a:p>
          <a:p>
            <a:r>
              <a:rPr lang="en-US" sz="2000" b="1" dirty="0"/>
              <a:t>Future Vision:</a:t>
            </a:r>
            <a:r>
              <a:rPr lang="en-US" sz="2000" dirty="0"/>
              <a:t> Transform </a:t>
            </a:r>
            <a:r>
              <a:rPr lang="en-US" sz="2000" b="1" dirty="0" err="1"/>
              <a:t>AgriMarket</a:t>
            </a:r>
            <a:r>
              <a:rPr lang="en-US" sz="2000" b="1" dirty="0"/>
              <a:t> AI</a:t>
            </a:r>
            <a:r>
              <a:rPr lang="en-US" sz="2000" dirty="0"/>
              <a:t> into a </a:t>
            </a:r>
            <a:r>
              <a:rPr lang="en-US" sz="2000" b="1" dirty="0"/>
              <a:t>comprehensive AI-powered digital agriculture platform</a:t>
            </a:r>
            <a:r>
              <a:rPr lang="en-US" sz="2000" dirty="0"/>
              <a:t> that empowers farmers with predictive insights, intelligent decision-making, and sustainable, profitable farming.</a:t>
            </a:r>
          </a:p>
          <a:p>
            <a:endParaRPr lang="en-US" dirty="0"/>
          </a:p>
        </p:txBody>
      </p:sp>
    </p:spTree>
    <p:extLst>
      <p:ext uri="{BB962C8B-B14F-4D97-AF65-F5344CB8AC3E}">
        <p14:creationId xmlns:p14="http://schemas.microsoft.com/office/powerpoint/2010/main" xmlns=""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2"/>
          <p:cNvPicPr>
            <a:picLocks noChangeAspect="1" noChangeArrowheads="1"/>
          </p:cNvPicPr>
          <p:nvPr/>
        </p:nvPicPr>
        <p:blipFill>
          <a:blip r:embed="rId2"/>
          <a:srcRect/>
          <a:stretch>
            <a:fillRect/>
          </a:stretch>
        </p:blipFill>
        <p:spPr bwMode="auto">
          <a:xfrm>
            <a:off x="1250951" y="1428737"/>
            <a:ext cx="9488520" cy="4857784"/>
          </a:xfrm>
          <a:prstGeom prst="rect">
            <a:avLst/>
          </a:prstGeom>
          <a:noFill/>
          <a:ln w="9525">
            <a:noFill/>
            <a:miter lim="800000"/>
            <a:headEnd/>
            <a:tailEnd/>
          </a:ln>
          <a:effectLst/>
        </p:spPr>
      </p:pic>
    </p:spTree>
    <p:extLst>
      <p:ext uri="{BB962C8B-B14F-4D97-AF65-F5344CB8AC3E}">
        <p14:creationId xmlns:p14="http://schemas.microsoft.com/office/powerpoint/2010/main" xmlns=""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7" name="Picture 2"/>
          <p:cNvPicPr>
            <a:picLocks noChangeAspect="1" noChangeArrowheads="1"/>
          </p:cNvPicPr>
          <p:nvPr/>
        </p:nvPicPr>
        <p:blipFill>
          <a:blip r:embed="rId2"/>
          <a:srcRect/>
          <a:stretch>
            <a:fillRect/>
          </a:stretch>
        </p:blipFill>
        <p:spPr bwMode="auto">
          <a:xfrm>
            <a:off x="1036638" y="1357298"/>
            <a:ext cx="10117137" cy="5156215"/>
          </a:xfrm>
          <a:prstGeom prst="rect">
            <a:avLst/>
          </a:prstGeom>
          <a:noFill/>
          <a:ln w="9525">
            <a:noFill/>
            <a:miter lim="800000"/>
            <a:headEnd/>
            <a:tailEnd/>
          </a:ln>
          <a:effectLst/>
        </p:spPr>
      </p:pic>
    </p:spTree>
    <p:extLst>
      <p:ext uri="{BB962C8B-B14F-4D97-AF65-F5344CB8AC3E}">
        <p14:creationId xmlns:p14="http://schemas.microsoft.com/office/powerpoint/2010/main" xmlns=""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 name="Picture 2"/>
          <p:cNvPicPr/>
          <p:nvPr/>
        </p:nvPicPr>
        <p:blipFill>
          <a:blip r:embed="rId3"/>
          <a:stretch/>
        </p:blipFill>
        <p:spPr>
          <a:xfrm>
            <a:off x="1285200" y="1586880"/>
            <a:ext cx="9715320" cy="4743000"/>
          </a:xfrm>
          <a:prstGeom prst="rect">
            <a:avLst/>
          </a:prstGeom>
          <a:ln w="0">
            <a:noFill/>
          </a:ln>
        </p:spPr>
      </p:pic>
      <p:sp>
        <p:nvSpPr>
          <p:cNvPr id="4" name="PlaceHolder 1"/>
          <p:cNvSpPr>
            <a:spLocks noGrp="1"/>
          </p:cNvSpPr>
          <p:nvPr>
            <p:ph type="title"/>
          </p:nvPr>
        </p:nvSpPr>
        <p:spPr>
          <a:xfrm>
            <a:off x="923400" y="932040"/>
            <a:ext cx="10515240" cy="722160"/>
          </a:xfrm>
          <a:prstGeom prst="rect">
            <a:avLst/>
          </a:prstGeom>
          <a:noFill/>
          <a:ln w="0">
            <a:noFill/>
          </a:ln>
        </p:spPr>
        <p:txBody>
          <a:bodyPr anchor="b">
            <a:normAutofit fontScale="90000"/>
          </a:bodyPr>
          <a:lstStyle/>
          <a:p>
            <a:pPr>
              <a:lnSpc>
                <a:spcPct val="90000"/>
              </a:lnSpc>
              <a:buNone/>
            </a:pPr>
            <a:r>
              <a:rPr lang="en-US" sz="6000" b="0" strike="noStrike" spc="-1" dirty="0">
                <a:solidFill>
                  <a:srgbClr val="000000"/>
                </a:solidFill>
                <a:latin typeface="Calibri"/>
                <a:ea typeface="Calibri"/>
              </a:rPr>
              <a:t>IBM SKILLS BUILD PROFILE</a:t>
            </a:r>
            <a:endParaRPr lang="en-IN" sz="6000" b="0" strike="noStrike" spc="-1" dirty="0">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591</TotalTime>
  <Words>1141</Words>
  <Application>Microsoft Office PowerPoint</Application>
  <PresentationFormat>Custom</PresentationFormat>
  <Paragraphs>114</Paragraphs>
  <Slides>19</Slides>
  <Notes>15</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IBM SKILLS BUILD PROFILE</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JITS</cp:lastModifiedBy>
  <cp:revision>26</cp:revision>
  <dcterms:created xsi:type="dcterms:W3CDTF">2025-07-08T05:06:56Z</dcterms:created>
  <dcterms:modified xsi:type="dcterms:W3CDTF">2026-07-04T05:04:02Z</dcterms:modified>
</cp:coreProperties>
</file>